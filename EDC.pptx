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69" r:id="rId11"/>
    <p:sldId id="274" r:id="rId12"/>
    <p:sldId id="273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197CA6-A7EE-4AF2-B405-C70D628FE74C}" v="102" dt="2025-12-05T20:42:07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07" autoAdjust="0"/>
  </p:normalViewPr>
  <p:slideViewPr>
    <p:cSldViewPr snapToGrid="0">
      <p:cViewPr varScale="1">
        <p:scale>
          <a:sx n="95" d="100"/>
          <a:sy n="95" d="100"/>
        </p:scale>
        <p:origin x="3259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 朱" userId="137c8aee2a71a563" providerId="LiveId" clId="{24E2A297-1BB3-49F9-B4A2-271C54CD3585}"/>
    <pc:docChg chg="custSel modSld">
      <pc:chgData name="越 朱" userId="137c8aee2a71a563" providerId="LiveId" clId="{24E2A297-1BB3-49F9-B4A2-271C54CD3585}" dt="2025-12-05T20:42:16.590" v="417" actId="20577"/>
      <pc:docMkLst>
        <pc:docMk/>
      </pc:docMkLst>
      <pc:sldChg chg="modSp mod">
        <pc:chgData name="越 朱" userId="137c8aee2a71a563" providerId="LiveId" clId="{24E2A297-1BB3-49F9-B4A2-271C54CD3585}" dt="2025-12-05T20:30:40.184" v="283" actId="207"/>
        <pc:sldMkLst>
          <pc:docMk/>
          <pc:sldMk cId="2390866653" sldId="262"/>
        </pc:sldMkLst>
        <pc:spChg chg="mod">
          <ac:chgData name="越 朱" userId="137c8aee2a71a563" providerId="LiveId" clId="{24E2A297-1BB3-49F9-B4A2-271C54CD3585}" dt="2025-12-05T20:30:40.184" v="283" actId="207"/>
          <ac:spMkLst>
            <pc:docMk/>
            <pc:sldMk cId="2390866653" sldId="262"/>
            <ac:spMk id="3" creationId="{F7418B59-7F98-7FAC-33DE-A2B77CE12B9D}"/>
          </ac:spMkLst>
        </pc:spChg>
        <pc:graphicFrameChg chg="mod">
          <ac:chgData name="越 朱" userId="137c8aee2a71a563" providerId="LiveId" clId="{24E2A297-1BB3-49F9-B4A2-271C54CD3585}" dt="2025-12-05T20:07:35.385" v="2" actId="1076"/>
          <ac:graphicFrameMkLst>
            <pc:docMk/>
            <pc:sldMk cId="2390866653" sldId="262"/>
            <ac:graphicFrameMk id="7" creationId="{201FFDA3-6A20-487F-2A82-A7636D324D40}"/>
          </ac:graphicFrameMkLst>
        </pc:graphicFrameChg>
      </pc:sldChg>
      <pc:sldChg chg="modSp">
        <pc:chgData name="越 朱" userId="137c8aee2a71a563" providerId="LiveId" clId="{24E2A297-1BB3-49F9-B4A2-271C54CD3585}" dt="2025-12-05T20:39:35.084" v="318" actId="20577"/>
        <pc:sldMkLst>
          <pc:docMk/>
          <pc:sldMk cId="1333385659" sldId="263"/>
        </pc:sldMkLst>
        <pc:graphicFrameChg chg="mod">
          <ac:chgData name="越 朱" userId="137c8aee2a71a563" providerId="LiveId" clId="{24E2A297-1BB3-49F9-B4A2-271C54CD3585}" dt="2025-12-05T20:39:35.084" v="318" actId="20577"/>
          <ac:graphicFrameMkLst>
            <pc:docMk/>
            <pc:sldMk cId="1333385659" sldId="263"/>
            <ac:graphicFrameMk id="6" creationId="{06274CB9-E2CB-9247-D09D-78CC19F1F3D5}"/>
          </ac:graphicFrameMkLst>
        </pc:graphicFrameChg>
      </pc:sldChg>
      <pc:sldChg chg="modSp mod">
        <pc:chgData name="越 朱" userId="137c8aee2a71a563" providerId="LiveId" clId="{24E2A297-1BB3-49F9-B4A2-271C54CD3585}" dt="2025-12-05T20:41:02.833" v="360" actId="20577"/>
        <pc:sldMkLst>
          <pc:docMk/>
          <pc:sldMk cId="1474830172" sldId="264"/>
        </pc:sldMkLst>
        <pc:spChg chg="mod">
          <ac:chgData name="越 朱" userId="137c8aee2a71a563" providerId="LiveId" clId="{24E2A297-1BB3-49F9-B4A2-271C54CD3585}" dt="2025-12-05T20:41:02.833" v="360" actId="20577"/>
          <ac:spMkLst>
            <pc:docMk/>
            <pc:sldMk cId="1474830172" sldId="264"/>
            <ac:spMk id="3" creationId="{2EC90FDC-B330-8EEA-DAFA-22DECC87CFB8}"/>
          </ac:spMkLst>
        </pc:spChg>
        <pc:graphicFrameChg chg="mod">
          <ac:chgData name="越 朱" userId="137c8aee2a71a563" providerId="LiveId" clId="{24E2A297-1BB3-49F9-B4A2-271C54CD3585}" dt="2025-12-05T20:40:50.856" v="357" actId="20577"/>
          <ac:graphicFrameMkLst>
            <pc:docMk/>
            <pc:sldMk cId="1474830172" sldId="264"/>
            <ac:graphicFrameMk id="6" creationId="{15C643CD-4C72-B7A2-4399-9751C73A469A}"/>
          </ac:graphicFrameMkLst>
        </pc:graphicFrameChg>
      </pc:sldChg>
      <pc:sldChg chg="modSp mod">
        <pc:chgData name="越 朱" userId="137c8aee2a71a563" providerId="LiveId" clId="{24E2A297-1BB3-49F9-B4A2-271C54CD3585}" dt="2025-12-05T20:17:09.689" v="281"/>
        <pc:sldMkLst>
          <pc:docMk/>
          <pc:sldMk cId="3731575563" sldId="267"/>
        </pc:sldMkLst>
        <pc:graphicFrameChg chg="mod modGraphic">
          <ac:chgData name="越 朱" userId="137c8aee2a71a563" providerId="LiveId" clId="{24E2A297-1BB3-49F9-B4A2-271C54CD3585}" dt="2025-12-05T20:17:09.689" v="281"/>
          <ac:graphicFrameMkLst>
            <pc:docMk/>
            <pc:sldMk cId="3731575563" sldId="267"/>
            <ac:graphicFrameMk id="4" creationId="{3C40BCED-CA3D-C8BD-B859-4C8FA60FCBB1}"/>
          </ac:graphicFrameMkLst>
        </pc:graphicFrameChg>
      </pc:sldChg>
      <pc:sldChg chg="modSp mod">
        <pc:chgData name="越 朱" userId="137c8aee2a71a563" providerId="LiveId" clId="{24E2A297-1BB3-49F9-B4A2-271C54CD3585}" dt="2025-12-05T20:42:16.590" v="417" actId="20577"/>
        <pc:sldMkLst>
          <pc:docMk/>
          <pc:sldMk cId="2827932409" sldId="269"/>
        </pc:sldMkLst>
        <pc:spChg chg="mod">
          <ac:chgData name="越 朱" userId="137c8aee2a71a563" providerId="LiveId" clId="{24E2A297-1BB3-49F9-B4A2-271C54CD3585}" dt="2025-12-05T20:42:16.590" v="417" actId="20577"/>
          <ac:spMkLst>
            <pc:docMk/>
            <pc:sldMk cId="2827932409" sldId="269"/>
            <ac:spMk id="3" creationId="{09C65FAA-658D-732E-57A7-0C55340284C3}"/>
          </ac:spMkLst>
        </pc:spChg>
      </pc:sldChg>
      <pc:sldChg chg="modSp mod">
        <pc:chgData name="越 朱" userId="137c8aee2a71a563" providerId="LiveId" clId="{24E2A297-1BB3-49F9-B4A2-271C54CD3585}" dt="2025-12-05T20:41:56.254" v="391" actId="20577"/>
        <pc:sldMkLst>
          <pc:docMk/>
          <pc:sldMk cId="4216697045" sldId="273"/>
        </pc:sldMkLst>
        <pc:spChg chg="mod">
          <ac:chgData name="越 朱" userId="137c8aee2a71a563" providerId="LiveId" clId="{24E2A297-1BB3-49F9-B4A2-271C54CD3585}" dt="2025-12-05T20:41:56.254" v="391" actId="20577"/>
          <ac:spMkLst>
            <pc:docMk/>
            <pc:sldMk cId="4216697045" sldId="273"/>
            <ac:spMk id="2" creationId="{D318D54D-23F5-6F73-02B9-D4E88CABF5FA}"/>
          </ac:spMkLst>
        </pc:spChg>
        <pc:graphicFrameChg chg="mod">
          <ac:chgData name="越 朱" userId="137c8aee2a71a563" providerId="LiveId" clId="{24E2A297-1BB3-49F9-B4A2-271C54CD3585}" dt="2025-12-05T20:41:51.999" v="388" actId="20577"/>
          <ac:graphicFrameMkLst>
            <pc:docMk/>
            <pc:sldMk cId="4216697045" sldId="273"/>
            <ac:graphicFrameMk id="6" creationId="{37426E3C-69DF-6E15-9047-0B350EFFBC5D}"/>
          </ac:graphicFrameMkLst>
        </pc:graphicFrameChg>
      </pc:sldChg>
      <pc:sldChg chg="modNotesTx">
        <pc:chgData name="越 朱" userId="137c8aee2a71a563" providerId="LiveId" clId="{24E2A297-1BB3-49F9-B4A2-271C54CD3585}" dt="2025-12-05T20:15:36.632" v="256" actId="20577"/>
        <pc:sldMkLst>
          <pc:docMk/>
          <pc:sldMk cId="1587653267" sldId="27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Hamming Distance over</a:t>
            </a:r>
            <a:r>
              <a:rPr lang="en-US" altLang="zh-CN" baseline="0" dirty="0">
                <a:latin typeface="Arial" panose="020B0604020202020204" pitchFamily="34" charset="0"/>
                <a:cs typeface="Arial" panose="020B0604020202020204" pitchFamily="34" charset="0"/>
              </a:rPr>
              <a:t> length (Bytes)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checksum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78-4A54-B8C0-7C0578349D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CRC32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78-4A54-B8C0-7C0578349D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Koopman32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78-4A54-B8C0-7C0578349D5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Koopman24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B78-4A54-B8C0-7C0578349D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8052639"/>
        <c:axId val="888053599"/>
      </c:lineChart>
      <c:catAx>
        <c:axId val="88805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8053599"/>
        <c:crosses val="autoZero"/>
        <c:auto val="1"/>
        <c:lblAlgn val="ctr"/>
        <c:lblOffset val="100"/>
        <c:noMultiLvlLbl val="0"/>
      </c:catAx>
      <c:valAx>
        <c:axId val="88805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8052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Throughput</a:t>
            </a:r>
            <a:r>
              <a:rPr lang="en-US" altLang="zh-CN" baseline="0" dirty="0">
                <a:latin typeface="Arial" panose="020B0604020202020204" pitchFamily="34" charset="0"/>
                <a:cs typeface="Arial" panose="020B0604020202020204" pitchFamily="34" charset="0"/>
              </a:rPr>
              <a:t> over length (GB/s - Bytes)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1094522031146057E-2"/>
          <c:y val="0.18013130813954478"/>
          <c:w val="0.95588617118496566"/>
          <c:h val="0.4531670246755356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checksum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7.6034059999999997</c:v>
                </c:pt>
                <c:pt idx="1">
                  <c:v>7.720815</c:v>
                </c:pt>
                <c:pt idx="2">
                  <c:v>7.7555449999999997</c:v>
                </c:pt>
                <c:pt idx="3">
                  <c:v>7.8222769999999997</c:v>
                </c:pt>
                <c:pt idx="4">
                  <c:v>7.5528690000000003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29-4D02-8267-A7976A55D2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8.4940000000000002E-2</c:v>
                </c:pt>
                <c:pt idx="1">
                  <c:v>8.4975999999999996E-2</c:v>
                </c:pt>
                <c:pt idx="2">
                  <c:v>8.6096000000000006E-2</c:v>
                </c:pt>
                <c:pt idx="3">
                  <c:v>8.7298000000000001E-2</c:v>
                </c:pt>
                <c:pt idx="4">
                  <c:v>8.7031999999999998E-2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29-4D02-8267-A7976A55D2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Koopman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0.98039200000000004</c:v>
                </c:pt>
                <c:pt idx="1">
                  <c:v>0.89525500000000002</c:v>
                </c:pt>
                <c:pt idx="2">
                  <c:v>0.87565700000000002</c:v>
                </c:pt>
                <c:pt idx="3">
                  <c:v>0.84530799999999995</c:v>
                </c:pt>
                <c:pt idx="4">
                  <c:v>0.83611999999999997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129-4D02-8267-A7976A55D2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7206815"/>
        <c:axId val="1347204895"/>
      </c:lineChart>
      <c:catAx>
        <c:axId val="134720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47204895"/>
        <c:crosses val="autoZero"/>
        <c:auto val="1"/>
        <c:lblAlgn val="ctr"/>
        <c:lblOffset val="100"/>
        <c:noMultiLvlLbl val="0"/>
      </c:catAx>
      <c:valAx>
        <c:axId val="1347204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47206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071163568079752"/>
          <c:y val="0.71352158064345717"/>
          <c:w val="0.4646066511974386"/>
          <c:h val="0.277827671826298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62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CRC throughput over length (GB/s - Bytes)  </a:t>
            </a:r>
            <a:endParaRPr lang="zh-CN" altLang="en-US" sz="1862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5815788533513917E-2"/>
          <c:y val="0.18708000099041772"/>
          <c:w val="0.93803214665566126"/>
          <c:h val="0.508440834922128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CRC_LUT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0.37023299999999998</c:v>
                </c:pt>
                <c:pt idx="1">
                  <c:v>0.36791800000000002</c:v>
                </c:pt>
                <c:pt idx="2">
                  <c:v>0.35714299999999999</c:v>
                </c:pt>
                <c:pt idx="3">
                  <c:v>0.35893799999999998</c:v>
                </c:pt>
                <c:pt idx="4">
                  <c:v>0.360101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78-40A2-88E3-18A54053A6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CRC_LUT_ILP8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1.277139</c:v>
                </c:pt>
                <c:pt idx="1">
                  <c:v>1.7889090000000001</c:v>
                </c:pt>
                <c:pt idx="2">
                  <c:v>1.459854</c:v>
                </c:pt>
                <c:pt idx="3">
                  <c:v>1.6806719999999999</c:v>
                </c:pt>
                <c:pt idx="4">
                  <c:v>1.536098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78-40A2-88E3-18A54053A6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CRC_LUT_ILP16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1.322751</c:v>
                </c:pt>
                <c:pt idx="1">
                  <c:v>1.2738849999999999</c:v>
                </c:pt>
                <c:pt idx="2">
                  <c:v>1.213592</c:v>
                </c:pt>
                <c:pt idx="3">
                  <c:v>2.985074</c:v>
                </c:pt>
                <c:pt idx="4">
                  <c:v>2.2675730000000001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78-40A2-88E3-18A54053A6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CRC_CLMUL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4.8309179999999996</c:v>
                </c:pt>
                <c:pt idx="1">
                  <c:v>3.7878790000000002</c:v>
                </c:pt>
                <c:pt idx="2">
                  <c:v>4.2372880000000004</c:v>
                </c:pt>
                <c:pt idx="3">
                  <c:v>4.4052860000000003</c:v>
                </c:pt>
                <c:pt idx="4">
                  <c:v>4.6296290000000004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9D-4540-8703-932297FE1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8126495"/>
        <c:axId val="868126015"/>
      </c:lineChart>
      <c:catAx>
        <c:axId val="86812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68126015"/>
        <c:crosses val="autoZero"/>
        <c:auto val="1"/>
        <c:lblAlgn val="ctr"/>
        <c:lblOffset val="100"/>
        <c:noMultiLvlLbl val="0"/>
      </c:catAx>
      <c:valAx>
        <c:axId val="868126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6812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091827205511263"/>
          <c:y val="0.82495817253783921"/>
          <c:w val="0.6310246363501929"/>
          <c:h val="8.24119500970963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62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Koopman’s checksum throughput over length (GB/s - Bytes)</a:t>
            </a:r>
            <a:endParaRPr lang="zh-CN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Koopman24_MUL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4.8309179999999996</c:v>
                </c:pt>
                <c:pt idx="1">
                  <c:v>5.7471259999999997</c:v>
                </c:pt>
                <c:pt idx="2">
                  <c:v>5.7803459999999998</c:v>
                </c:pt>
                <c:pt idx="3">
                  <c:v>5</c:v>
                </c:pt>
                <c:pt idx="4">
                  <c:v>5.2356009999999999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36-493D-8ACA-A0AB7AB06C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Koopman24_MUL_IT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3.649635</c:v>
                </c:pt>
                <c:pt idx="1">
                  <c:v>4.5871560000000002</c:v>
                </c:pt>
                <c:pt idx="2">
                  <c:v>4.7169809999999996</c:v>
                </c:pt>
                <c:pt idx="3">
                  <c:v>5.6818179999999998</c:v>
                </c:pt>
                <c:pt idx="4">
                  <c:v>5.5555539999999999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36-493D-8ACA-A0AB7AB06C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Koopman24_MUL_SIMD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80</c:v>
                </c:pt>
                <c:pt idx="1">
                  <c:v>160</c:v>
                </c:pt>
                <c:pt idx="2">
                  <c:v>240</c:v>
                </c:pt>
                <c:pt idx="3">
                  <c:v>320</c:v>
                </c:pt>
                <c:pt idx="4">
                  <c:v>400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4.4247779999999999</c:v>
                </c:pt>
                <c:pt idx="1">
                  <c:v>6.451613</c:v>
                </c:pt>
                <c:pt idx="2">
                  <c:v>7.0422529999999997</c:v>
                </c:pt>
                <c:pt idx="3">
                  <c:v>7.751938</c:v>
                </c:pt>
                <c:pt idx="4">
                  <c:v>8.1300799999999995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36-493D-8ACA-A0AB7AB06C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0906015"/>
        <c:axId val="880907455"/>
      </c:lineChart>
      <c:catAx>
        <c:axId val="880906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0907455"/>
        <c:crosses val="autoZero"/>
        <c:auto val="1"/>
        <c:lblAlgn val="ctr"/>
        <c:lblOffset val="100"/>
        <c:noMultiLvlLbl val="0"/>
      </c:catAx>
      <c:valAx>
        <c:axId val="880907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0906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6.93889E-17</cdr:x>
      <cdr:y>0</cdr:y>
    </cdr:from>
    <cdr:to>
      <cdr:x>1</cdr:x>
      <cdr:y>1</cdr:y>
    </cdr:to>
    <cdr:sp macro="" textlink="">
      <cdr:nvSpPr>
        <cdr:cNvPr id="2" name="内容占位符 2">
          <a:extLst xmlns:a="http://schemas.openxmlformats.org/drawingml/2006/main">
            <a:ext uri="{FF2B5EF4-FFF2-40B4-BE49-F238E27FC236}">
              <a16:creationId xmlns:a16="http://schemas.microsoft.com/office/drawing/2014/main" id="{2EC90FDC-B330-8EEA-DAFA-22DECC87CFB8}"/>
            </a:ext>
          </a:extLst>
        </cdr:cNvPr>
        <cdr:cNvSpPr>
          <a:spLocks xmlns:a="http://schemas.openxmlformats.org/drawingml/2006/main" noGrp="1"/>
        </cdr:cNvSpPr>
      </cdr:nvSpPr>
      <cdr:spPr>
        <a:xfrm xmlns:a="http://schemas.openxmlformats.org/drawingml/2006/main">
          <a:off x="889000" y="1876425"/>
          <a:ext cx="10515600" cy="435133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lIns="91440" tIns="45720" rIns="91440" bIns="45720" rtlCol="0">
          <a:normAutofit/>
        </a:bodyPr>
        <a:lstStyle xmlns:a="http://schemas.openxmlformats.org/drawingml/2006/main">
          <a:lvl1pPr marL="228600" indent="-228600" algn="l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Char char="•"/>
            <a:defRPr sz="2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6858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24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11430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20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6002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20574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5146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9718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4290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886200" indent="-228600" algn="l" defTabSz="914400" rtl="0" eaLnBrk="1" latinLnBrk="0" hangingPunct="1">
            <a:lnSpc>
              <a:spcPct val="90000"/>
            </a:lnSpc>
            <a:spcBef>
              <a:spcPts val="500"/>
            </a:spcBef>
            <a:buFont typeface="Arial" panose="020B0604020202020204" pitchFamily="34" charset="0"/>
            <a:buChar char="•"/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endParaRPr lang="zh-CN" altLang="en-US" dirty="0"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614BD-547B-422F-94FF-D3FCBB02A13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B006A-2E52-4B60-BD1F-4C3EEF53F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4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Hi everyone, my project topic is about Error Detection Codes.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249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Let’s begin with data integrity, a part of security which has been discussed in last week lesson.</a:t>
            </a:r>
          </a:p>
          <a:p>
            <a:r>
              <a:rPr lang="en-US" altLang="zh-CN" dirty="0"/>
              <a:t>So we always want to make sure data is accurate and unchanged during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transmission.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But the reality is we keep facing challenges in computer networks.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outcome might be single-bit Error or burst error or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sth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504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 are 2 key algorithms in EDC.</a:t>
            </a:r>
          </a:p>
          <a:p>
            <a:r>
              <a:rPr lang="en-US" altLang="zh-CN" dirty="0"/>
              <a:t>The 1</a:t>
            </a:r>
            <a:r>
              <a:rPr lang="en-US" altLang="zh-CN" baseline="30000" dirty="0"/>
              <a:t>st</a:t>
            </a:r>
            <a:r>
              <a:rPr lang="en-US" altLang="zh-CN" dirty="0"/>
              <a:t>  one is checksum. It uses fast summation, and is weak in detecting errors.</a:t>
            </a:r>
          </a:p>
          <a:p>
            <a:r>
              <a:rPr lang="en-US" altLang="zh-CN" dirty="0"/>
              <a:t>The 2</a:t>
            </a:r>
            <a:r>
              <a:rPr lang="en-US" altLang="zh-CN" baseline="30000" dirty="0"/>
              <a:t>nd</a:t>
            </a:r>
            <a:r>
              <a:rPr lang="en-US" altLang="zh-CN" dirty="0"/>
              <a:t> one is CRC, based on polynomial division, thus has strong detection ability.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039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Mainstream EDCs generally fall into two categories: addition-based which is fast and polynomial-based that is strong.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Can we combine these two algorithms into a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numerical division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 find a balance between performance and detection capability?</a:t>
            </a:r>
          </a:p>
          <a:p>
            <a:r>
              <a:rPr lang="en-US" altLang="zh-CN" dirty="0"/>
              <a:t>That is, we use the binary representation of the data, instead of polynomial representation in CRC.</a:t>
            </a:r>
          </a:p>
          <a:p>
            <a:endParaRPr lang="en-US" altLang="zh-CN" dirty="0"/>
          </a:p>
          <a:p>
            <a:r>
              <a:rPr lang="en-US" altLang="zh-CN" dirty="0"/>
              <a:t>I later found that this kind of algorithm already exists, called Koopman’s checksum.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479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 now we have 3 EDCs, how to evaluate them?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1</a:t>
            </a:r>
            <a:r>
              <a:rPr lang="en-US" altLang="zh-CN" baseline="30000" dirty="0"/>
              <a:t>st</a:t>
            </a:r>
            <a:r>
              <a:rPr lang="en-US" altLang="zh-CN" dirty="0"/>
              <a:t> thing we care about is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Error Detection Capability,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including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burst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errors.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And the 2</a:t>
            </a:r>
            <a:r>
              <a:rPr lang="en-US" altLang="zh-CN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is computational overhead.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342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Burst error means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arbitrary errors could happen within a fixed length.</a:t>
            </a:r>
          </a:p>
          <a:p>
            <a:r>
              <a:rPr lang="en-US" altLang="zh-CN" dirty="0"/>
              <a:t>We only need to know there are some mathematical proof show they are all good for burst error.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298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Random error refers that bit flip probabilities are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 and identically distributed.</a:t>
            </a:r>
          </a:p>
          <a:p>
            <a:r>
              <a:rPr lang="en-US" altLang="zh-CN" dirty="0"/>
              <a:t>A more direct concept here is Hamming Distance. </a:t>
            </a:r>
          </a:p>
          <a:p>
            <a:endParaRPr lang="en-US" altLang="zh-CN" dirty="0"/>
          </a:p>
          <a:p>
            <a:r>
              <a:rPr lang="en-US" altLang="zh-CN" dirty="0"/>
              <a:t>Due to the linear additivity of errors, we can simplify the calculation. </a:t>
            </a:r>
          </a:p>
          <a:p>
            <a:r>
              <a:rPr lang="en-US" altLang="zh-CN" dirty="0"/>
              <a:t>The final test results show that Koopman’s checksum falls somewhere between CRC and simple checksum.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459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this page, the below 2 are quite slow. So we want to accelerate them.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376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We can use 2 techniques that accelerate CRC computation, LUT and ILP.</a:t>
            </a:r>
          </a:p>
          <a:p>
            <a:endParaRPr lang="en-US" altLang="zh-CN" dirty="0"/>
          </a:p>
          <a:p>
            <a:r>
              <a:rPr lang="en-US" altLang="zh-CN" dirty="0"/>
              <a:t>I also notice that carry-less multiplication can help bypassing the table lookup overhead.</a:t>
            </a:r>
          </a:p>
          <a:p>
            <a:r>
              <a:rPr lang="en-US" altLang="zh-CN" dirty="0"/>
              <a:t>But I’m still debugging for the corner cases.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070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Therefore, I attempted to implement these two optimizations by adopting a reduced bit-width version of Koopman's checksum.</a:t>
            </a:r>
          </a:p>
          <a:p>
            <a:r>
              <a:rPr lang="en-US" altLang="zh-CN" dirty="0"/>
              <a:t>Given the theoretical nature of this project, I will briefly showcase some code snippets rather than performing a live demo.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B006A-2E52-4B60-BD1F-4C3EEF53F57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52D56-CCD5-92AB-0BEF-8588185E6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C912C9-9E74-EC2B-6375-CDEA147B3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C79111-206C-F58E-6982-819A7058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F9CEE8-C012-DE2B-FC68-0313413B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F6974-245B-725D-92EA-71266EC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99138-3A9A-EF14-F6F2-FECF97C9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708E12-C431-0B74-B3E0-88380FF0B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7A1F18-B7F6-4012-44CD-F95A9B0C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E411AC-1BD7-8DB5-4D12-00B80E06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52CE1-1458-68B8-892A-6CCD2125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57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E92A-2F36-8FA2-9ABE-E555D3DA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825A62-26F1-8955-1D92-48778F4EF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E79B52-C0F4-DD74-D006-5F79A558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EEA61E-BB87-B273-B13B-5F8A5272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530420-2108-AB45-CEBC-D32AADCD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09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867FE-10F9-A5FF-FB72-CC18D279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482E01-88A6-09A9-F1E2-C262DEBB4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CDDF8F-5787-1433-4A97-1E4DAFB06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9A2520-EFCB-B89F-0A97-88622926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1BF4FE-C17D-1B06-AC57-BF009F42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2F34BB-5497-183F-DB9C-7CC35BB5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25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9D23E-08C3-CF95-42A8-FB199EC3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F3A518-7E6D-4C08-149C-F8235906C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92C2C4-A54D-5A2B-D0A7-CF72F3EAA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05F461-4ED5-4030-D7C6-16B3306C0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AC6760-5877-6D08-E0FF-058FBC1CA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AF8ED0-8745-8364-F855-3F615B5B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F63586-4A65-734E-1403-8F2C56EF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347EDE-83F8-B84A-DA58-62613C31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070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6E3A0-28EC-3B4B-80C1-6457D090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0BBAFD-7AEA-61C3-B4AA-8D2A15F2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44B1CD-AE94-566E-2E86-EBC7501D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AAA0E0-D8C3-B053-4C6C-459E7533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50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BADE52-5F7D-4EFB-1B2F-60C1C53A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C44149-34AE-EBA5-B296-9A3207D8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9113A7-562A-1F70-723E-00930231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2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B5BA4-C9B0-6B27-8EDD-1081664B2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BF3BE-706D-89FA-EE7E-AB383E92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5E3D2E-52AB-1D5E-994C-956C35BC7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B8D7E3-CF95-C310-9297-A514878B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42AEBB-539F-9B9F-5D4E-2FC8A293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0EC44B-DD97-A600-9339-C690E596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15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880A0-D078-AB68-D601-C885405B3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A2091C-905E-C4B5-356B-525DDF3B0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890DF5-C52E-89F5-DCB3-7A9D61337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47467F-6E15-040D-A582-2BE108BCD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0FD0E3-2B1B-B0DE-2622-DEF17682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2B1BB6-CD2F-C228-B5C0-5B736CC5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84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416C3-5F28-BB68-88CC-47289439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049E4E-F1D7-8C26-E179-330048203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01247-DB11-58D2-A23C-5A47741D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40C207-2287-E490-84CE-2C0D8A14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4B6E0E-1AEA-8F06-8D8D-41699776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7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BC4191-A86A-8ED9-B002-10F8893FB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8D3724-698A-DB90-F745-FAF4FC5AD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BFCB1-0FCF-417F-6898-565317EB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9251CB-1394-1B0F-3B89-F568F44D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B6FE3-AAF5-EDC6-A09F-EECD99D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71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BC695D-414B-E189-4E09-2777E270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87F8D0-6014-26F5-BC10-FE4BA8E76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7FEFC-B32D-F0AC-1862-005740B5D0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E7AE0-AE69-4868-9B4F-E6C17D849CAA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1DF6E8-D65F-E592-624D-8125DC071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5B8B4E-1A22-FC50-E12B-914D33E69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D81EF-2CA4-46F7-AC0A-2842C779D8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07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5D411-D937-5DF1-145D-D2E0D7F07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Analysis of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Error Detection Codes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073C9E-E865-2792-6E00-9F9EAE89D2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Yue Zhu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yzhu303@ucr.edu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96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7DC94-9325-981A-5D2E-55FA3D1A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Integrity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A35B88-443E-F055-A258-CB37F466C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Challenge in Networking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Physical noise, signal decay, and hardware glitches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Single-bit Error &amp; Burst error</a:t>
            </a:r>
          </a:p>
          <a:p>
            <a:pPr lvl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Concept of Data Integrity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Accurate, consistent, and unaltered during transmission</a:t>
            </a:r>
          </a:p>
          <a:p>
            <a:endParaRPr lang="fr-FR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altLang="zh-CN" dirty="0">
                <a:latin typeface="Arial" panose="020B0604020202020204" pitchFamily="34" charset="0"/>
                <a:cs typeface="Arial" panose="020B0604020202020204" pitchFamily="34" charset="0"/>
              </a:rPr>
              <a:t>Solution: Error Detection Codes (EDCs)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Sender appends a </a:t>
            </a:r>
            <a:r>
              <a:rPr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redundancy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to the data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CRC32, checksum16, …</a:t>
            </a: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ypes of Errors">
            <a:extLst>
              <a:ext uri="{FF2B5EF4-FFF2-40B4-BE49-F238E27FC236}">
                <a16:creationId xmlns:a16="http://schemas.microsoft.com/office/drawing/2014/main" id="{DE1A5CCC-0E74-F2E5-344A-64A778FD4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691" y="108703"/>
            <a:ext cx="4419303" cy="214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ypes of Errors_Single Bit Errors">
            <a:extLst>
              <a:ext uri="{FF2B5EF4-FFF2-40B4-BE49-F238E27FC236}">
                <a16:creationId xmlns:a16="http://schemas.microsoft.com/office/drawing/2014/main" id="{72497314-1E66-8001-DF89-80DA8C047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244" y="2836497"/>
            <a:ext cx="4651750" cy="99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38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87E81-B08E-3A73-392A-C0A427062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 Key Algorithms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B10C4-DA5E-AD62-D9CA-5310C3E2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338"/>
            <a:ext cx="5257800" cy="4351338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Internet Checksum (for TCP/IP)</a:t>
            </a:r>
          </a:p>
          <a:p>
            <a:pPr lvl="1"/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summation (1’s complement arithmetic)</a:t>
            </a:r>
          </a:p>
          <a:p>
            <a:pPr lvl="1"/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detection capabilities</a:t>
            </a:r>
          </a:p>
          <a:p>
            <a:pPr lvl="1"/>
            <a:endParaRPr lang="en-US" altLang="zh-CN" b="0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6F4B15-E55C-7833-17EA-3C701566E89A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CRC (for Ethernet &amp; Wi-Fi)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Based on polynomial division (usually requires specific hardware support)</a:t>
            </a:r>
          </a:p>
          <a:p>
            <a:pPr lvl="1"/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detection ability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Cyclic Redundancy Check? How to Fix CRC Errors? - Huawei">
            <a:extLst>
              <a:ext uri="{FF2B5EF4-FFF2-40B4-BE49-F238E27FC236}">
                <a16:creationId xmlns:a16="http://schemas.microsoft.com/office/drawing/2014/main" id="{3B5A3E6D-C825-994F-EDC8-EB6506815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720" y="4458480"/>
            <a:ext cx="3344326" cy="211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6257E9-2795-F681-C629-83619B3ACE14}"/>
                  </a:ext>
                </a:extLst>
              </p:cNvPr>
              <p:cNvSpPr txBox="1"/>
              <p:nvPr/>
            </p:nvSpPr>
            <p:spPr>
              <a:xfrm>
                <a:off x="472031" y="4141407"/>
                <a:ext cx="53276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𝑠𝑢𝑚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𝑠𝑢𝑚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𝑑𝑎𝑡𝑎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%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𝑚𝑜𝑑𝑢𝑙𝑢𝑠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6257E9-2795-F681-C629-83619B3AC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31" y="4141407"/>
                <a:ext cx="5327640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0B893E8-25EA-75D5-ACDF-87C682383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616"/>
              </p:ext>
            </p:extLst>
          </p:nvPr>
        </p:nvGraphicFramePr>
        <p:xfrm>
          <a:off x="1263406" y="4879865"/>
          <a:ext cx="374489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978">
                  <a:extLst>
                    <a:ext uri="{9D8B030D-6E8A-4147-A177-3AD203B41FA5}">
                      <a16:colId xmlns:a16="http://schemas.microsoft.com/office/drawing/2014/main" val="3044114099"/>
                    </a:ext>
                  </a:extLst>
                </a:gridCol>
                <a:gridCol w="748978">
                  <a:extLst>
                    <a:ext uri="{9D8B030D-6E8A-4147-A177-3AD203B41FA5}">
                      <a16:colId xmlns:a16="http://schemas.microsoft.com/office/drawing/2014/main" val="3714537096"/>
                    </a:ext>
                  </a:extLst>
                </a:gridCol>
                <a:gridCol w="748978">
                  <a:extLst>
                    <a:ext uri="{9D8B030D-6E8A-4147-A177-3AD203B41FA5}">
                      <a16:colId xmlns:a16="http://schemas.microsoft.com/office/drawing/2014/main" val="944825244"/>
                    </a:ext>
                  </a:extLst>
                </a:gridCol>
                <a:gridCol w="748978">
                  <a:extLst>
                    <a:ext uri="{9D8B030D-6E8A-4147-A177-3AD203B41FA5}">
                      <a16:colId xmlns:a16="http://schemas.microsoft.com/office/drawing/2014/main" val="4159623290"/>
                    </a:ext>
                  </a:extLst>
                </a:gridCol>
                <a:gridCol w="748978">
                  <a:extLst>
                    <a:ext uri="{9D8B030D-6E8A-4147-A177-3AD203B41FA5}">
                      <a16:colId xmlns:a16="http://schemas.microsoft.com/office/drawing/2014/main" val="10887763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681229"/>
                  </a:ext>
                </a:extLst>
              </a:tr>
            </a:tbl>
          </a:graphicData>
        </a:graphic>
      </p:graphicFrame>
      <p:sp>
        <p:nvSpPr>
          <p:cNvPr id="9" name="左大括号 8">
            <a:extLst>
              <a:ext uri="{FF2B5EF4-FFF2-40B4-BE49-F238E27FC236}">
                <a16:creationId xmlns:a16="http://schemas.microsoft.com/office/drawing/2014/main" id="{B7489D6E-B125-AC0F-B17B-225108DE841C}"/>
              </a:ext>
            </a:extLst>
          </p:cNvPr>
          <p:cNvSpPr/>
          <p:nvPr/>
        </p:nvSpPr>
        <p:spPr>
          <a:xfrm rot="16200000">
            <a:off x="2890810" y="3898342"/>
            <a:ext cx="501169" cy="3386725"/>
          </a:xfrm>
          <a:prstGeom prst="leftBrace">
            <a:avLst>
              <a:gd name="adj1" fmla="val 46014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6122-3F98-18E7-6DE7-B55037505F00}"/>
                  </a:ext>
                </a:extLst>
              </p:cNvPr>
              <p:cNvSpPr txBox="1"/>
              <p:nvPr/>
            </p:nvSpPr>
            <p:spPr>
              <a:xfrm>
                <a:off x="6292393" y="3956741"/>
                <a:ext cx="506140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𝐶𝑅𝐶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𝑎𝑡𝑎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𝑃𝑜𝑙𝑦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6122-3F98-18E7-6DE7-B55037505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393" y="3956741"/>
                <a:ext cx="5061407" cy="369332"/>
              </a:xfrm>
              <a:prstGeom prst="rect">
                <a:avLst/>
              </a:prstGeom>
              <a:blipFill>
                <a:blip r:embed="rId5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D11B6C2B-49A3-3F8E-7583-6758C3BCBD9D}"/>
              </a:ext>
            </a:extLst>
          </p:cNvPr>
          <p:cNvSpPr txBox="1"/>
          <p:nvPr/>
        </p:nvSpPr>
        <p:spPr>
          <a:xfrm>
            <a:off x="2441797" y="5934211"/>
            <a:ext cx="1601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Sum &amp; Mod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0E1C77-2657-899C-0609-433AA610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7747F1-1C14-CC97-2EB9-21828FCC6D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EDCs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Modular sum: fast but weak</a:t>
                </a: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Polynomial division: strong but slow (or require specific hardware)</a:t>
                </a:r>
              </a:p>
              <a:p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Can we combine these two algorithms into a </a:t>
                </a:r>
                <a:r>
                  <a:rPr lang="en-US" altLang="zh-CN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numerical division 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to find a balance between performance and detection capability?</a:t>
                </a:r>
              </a:p>
              <a:p>
                <a:pPr lvl="1"/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(already exists) Koopman's checksum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𝑠𝑢𝑚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𝑠𝑢𝑚</m:t>
                            </m:r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≪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𝑑𝑎𝑡𝑎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%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𝑚𝑜𝑑𝑢𝑙𝑢𝑠</m:t>
                    </m:r>
                  </m:oMath>
                </a14:m>
                <a:endParaRPr lang="en-US" altLang="zh-CN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7747F1-1C14-CC97-2EB9-21828FCC6D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361" r="-1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DDDEBB-B993-CAEF-D769-276EFAFD977E}"/>
                  </a:ext>
                </a:extLst>
              </p:cNvPr>
              <p:cNvSpPr txBox="1"/>
              <p:nvPr/>
            </p:nvSpPr>
            <p:spPr>
              <a:xfrm>
                <a:off x="1077286" y="4499661"/>
                <a:ext cx="1027651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𝐶𝑅𝐶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𝑎𝑡𝑎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𝑃𝑜𝑙𝑦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𝑛𝑒𝑤𝐸𝐷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𝑑𝑎𝑡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𝑚𝑜𝑑𝑢𝑙𝑢𝑠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DDDEBB-B993-CAEF-D769-276EFAFD9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286" y="4499661"/>
                <a:ext cx="10276514" cy="369332"/>
              </a:xfrm>
              <a:prstGeom prst="rect">
                <a:avLst/>
              </a:prstGeom>
              <a:blipFill>
                <a:blip r:embed="rId4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6C1DBAB4-9EC8-54BA-822F-5DDABDB3D1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1415893"/>
                  </p:ext>
                </p:extLst>
              </p:nvPr>
            </p:nvGraphicFramePr>
            <p:xfrm>
              <a:off x="7871120" y="5589849"/>
              <a:ext cx="2589252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89252">
                      <a:extLst>
                        <a:ext uri="{9D8B030D-6E8A-4147-A177-3AD203B41FA5}">
                          <a16:colId xmlns:a16="http://schemas.microsoft.com/office/drawing/2014/main" val="3147479008"/>
                        </a:ext>
                      </a:extLst>
                    </a:gridCol>
                  </a:tblGrid>
                  <a:tr h="322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1 1 0 1  </m:t>
                                </m:r>
                                <m:r>
                                  <a:rPr lang="en-US" altLang="zh-CN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…    </m:t>
                                </m:r>
                                <m:r>
                                  <a:rPr lang="en-US" altLang="zh-CN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 0 1 0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88605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6C1DBAB4-9EC8-54BA-822F-5DDABDB3D1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1415893"/>
                  </p:ext>
                </p:extLst>
              </p:nvPr>
            </p:nvGraphicFramePr>
            <p:xfrm>
              <a:off x="7871120" y="5589849"/>
              <a:ext cx="2589252" cy="36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89252">
                      <a:extLst>
                        <a:ext uri="{9D8B030D-6E8A-4147-A177-3AD203B41FA5}">
                          <a16:colId xmlns:a16="http://schemas.microsoft.com/office/drawing/2014/main" val="314747900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5" t="-1639" r="-706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8605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14961C81-FC9C-731D-0E3E-C558C857C5C5}"/>
              </a:ext>
            </a:extLst>
          </p:cNvPr>
          <p:cNvSpPr txBox="1"/>
          <p:nvPr/>
        </p:nvSpPr>
        <p:spPr>
          <a:xfrm>
            <a:off x="8037872" y="5250496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Representation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6086DDA-A4B6-98B4-B146-185A06FF9C50}"/>
                  </a:ext>
                </a:extLst>
              </p:cNvPr>
              <p:cNvSpPr txBox="1"/>
              <p:nvPr/>
            </p:nvSpPr>
            <p:spPr>
              <a:xfrm>
                <a:off x="10460370" y="5580669"/>
                <a:ext cx="1407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𝑚𝑜𝑑𝑢𝑙𝑢𝑠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6086DDA-A4B6-98B4-B146-185A06FF9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0370" y="5580669"/>
                <a:ext cx="14076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EF0601B-F370-E812-10AD-6212763D4DBA}"/>
              </a:ext>
            </a:extLst>
          </p:cNvPr>
          <p:cNvCxnSpPr>
            <a:cxnSpLocks/>
          </p:cNvCxnSpPr>
          <p:nvPr/>
        </p:nvCxnSpPr>
        <p:spPr>
          <a:xfrm>
            <a:off x="8380602" y="4868993"/>
            <a:ext cx="100668" cy="4579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C9D59D2-971D-2792-CB69-32661D0D7D45}"/>
              </a:ext>
            </a:extLst>
          </p:cNvPr>
          <p:cNvCxnSpPr>
            <a:cxnSpLocks/>
          </p:cNvCxnSpPr>
          <p:nvPr/>
        </p:nvCxnSpPr>
        <p:spPr>
          <a:xfrm>
            <a:off x="10192950" y="4868993"/>
            <a:ext cx="855351" cy="7508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51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8879-356B-3276-1F8A-59249BE7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64B77-79A7-0ACC-21FE-808695B8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FF8D0A-A113-5420-8348-B251726EC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 EDCs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Internet checksum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CRC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Koopman’s checksum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Error Detection Capability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Burst Error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Random Error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Computational Overhead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Software Implementation on CPU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48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B55EBB22-0740-6265-4064-AE9281DA1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t="35789" r="28422" b="34182"/>
          <a:stretch>
            <a:fillRect/>
          </a:stretch>
        </p:blipFill>
        <p:spPr bwMode="auto">
          <a:xfrm>
            <a:off x="2781371" y="4599090"/>
            <a:ext cx="981008" cy="36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68560FB-2CDF-E298-8AE8-36306B6E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Burst Error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F22ED8-1ECA-2807-1B70-DF92522D32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Arbitrary errors within a fixed length</a:t>
                </a:r>
              </a:p>
              <a:p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Existing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mathematical proof: all these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bit EDCs can detect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−1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bit burst errors</a:t>
                </a:r>
              </a:p>
              <a:p>
                <a:pPr lvl="2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Internet checksum: trivial</a:t>
                </a:r>
              </a:p>
              <a:p>
                <a:pPr lvl="2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Other two: leverage the knowledge of polynomials or modular algebra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F22ED8-1ECA-2807-1B70-DF92522D3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Types of Errors">
            <a:extLst>
              <a:ext uri="{FF2B5EF4-FFF2-40B4-BE49-F238E27FC236}">
                <a16:creationId xmlns:a16="http://schemas.microsoft.com/office/drawing/2014/main" id="{3D3FB392-4D70-9E64-3799-37F5C098D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475" y="281235"/>
            <a:ext cx="4419303" cy="214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73480B8-4511-73C8-A35D-AABC0C5B2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971693"/>
              </p:ext>
            </p:extLst>
          </p:nvPr>
        </p:nvGraphicFramePr>
        <p:xfrm>
          <a:off x="1017983" y="4968421"/>
          <a:ext cx="374489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978">
                  <a:extLst>
                    <a:ext uri="{9D8B030D-6E8A-4147-A177-3AD203B41FA5}">
                      <a16:colId xmlns:a16="http://schemas.microsoft.com/office/drawing/2014/main" val="3044114099"/>
                    </a:ext>
                  </a:extLst>
                </a:gridCol>
                <a:gridCol w="748978">
                  <a:extLst>
                    <a:ext uri="{9D8B030D-6E8A-4147-A177-3AD203B41FA5}">
                      <a16:colId xmlns:a16="http://schemas.microsoft.com/office/drawing/2014/main" val="3714537096"/>
                    </a:ext>
                  </a:extLst>
                </a:gridCol>
                <a:gridCol w="283841">
                  <a:extLst>
                    <a:ext uri="{9D8B030D-6E8A-4147-A177-3AD203B41FA5}">
                      <a16:colId xmlns:a16="http://schemas.microsoft.com/office/drawing/2014/main" val="944825244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33859578"/>
                    </a:ext>
                  </a:extLst>
                </a:gridCol>
                <a:gridCol w="466041">
                  <a:extLst>
                    <a:ext uri="{9D8B030D-6E8A-4147-A177-3AD203B41FA5}">
                      <a16:colId xmlns:a16="http://schemas.microsoft.com/office/drawing/2014/main" val="4159623290"/>
                    </a:ext>
                  </a:extLst>
                </a:gridCol>
                <a:gridCol w="282937">
                  <a:extLst>
                    <a:ext uri="{9D8B030D-6E8A-4147-A177-3AD203B41FA5}">
                      <a16:colId xmlns:a16="http://schemas.microsoft.com/office/drawing/2014/main" val="1107931155"/>
                    </a:ext>
                  </a:extLst>
                </a:gridCol>
                <a:gridCol w="748978">
                  <a:extLst>
                    <a:ext uri="{9D8B030D-6E8A-4147-A177-3AD203B41FA5}">
                      <a16:colId xmlns:a16="http://schemas.microsoft.com/office/drawing/2014/main" val="10887763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681229"/>
                  </a:ext>
                </a:extLst>
              </a:tr>
            </a:tbl>
          </a:graphicData>
        </a:graphic>
      </p:graphicFrame>
      <p:sp>
        <p:nvSpPr>
          <p:cNvPr id="7" name="左大括号 6">
            <a:extLst>
              <a:ext uri="{FF2B5EF4-FFF2-40B4-BE49-F238E27FC236}">
                <a16:creationId xmlns:a16="http://schemas.microsoft.com/office/drawing/2014/main" id="{95A3AD69-100B-AA27-2ADE-F74CC097DEA8}"/>
              </a:ext>
            </a:extLst>
          </p:cNvPr>
          <p:cNvSpPr/>
          <p:nvPr/>
        </p:nvSpPr>
        <p:spPr>
          <a:xfrm rot="16200000">
            <a:off x="2645387" y="3986898"/>
            <a:ext cx="501169" cy="3386725"/>
          </a:xfrm>
          <a:prstGeom prst="leftBrace">
            <a:avLst>
              <a:gd name="adj1" fmla="val 46014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6A30E5-4B20-09E2-FC79-38312C505415}"/>
              </a:ext>
            </a:extLst>
          </p:cNvPr>
          <p:cNvSpPr txBox="1"/>
          <p:nvPr/>
        </p:nvSpPr>
        <p:spPr>
          <a:xfrm>
            <a:off x="2196374" y="6022767"/>
            <a:ext cx="1601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Sum &amp; Mod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CF71482-C0AB-350C-55AF-D2F00C6E6B7B}"/>
                  </a:ext>
                </a:extLst>
              </p:cNvPr>
              <p:cNvSpPr txBox="1"/>
              <p:nvPr/>
            </p:nvSpPr>
            <p:spPr>
              <a:xfrm>
                <a:off x="5513687" y="4870845"/>
                <a:ext cx="6094602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≠0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CF71482-C0AB-350C-55AF-D2F00C6E6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87" y="4870845"/>
                <a:ext cx="6094602" cy="403124"/>
              </a:xfrm>
              <a:prstGeom prst="rect">
                <a:avLst/>
              </a:prstGeom>
              <a:blipFill>
                <a:blip r:embed="rId6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FB59F4F-5DA9-698E-8F04-3DCAFA17AEA2}"/>
                  </a:ext>
                </a:extLst>
              </p:cNvPr>
              <p:cNvSpPr txBox="1"/>
              <p:nvPr/>
            </p:nvSpPr>
            <p:spPr>
              <a:xfrm>
                <a:off x="5259198" y="5648497"/>
                <a:ext cx="6094602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≠0⇔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𝐸𝑟𝑟𝑜𝑟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FB59F4F-5DA9-698E-8F04-3DCAFA17A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198" y="5648497"/>
                <a:ext cx="6094602" cy="374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098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D8603-3791-C003-8CE5-67175BB2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Random Error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418B59-7F98-7FAC-33DE-A2B77CE12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Assuming bit flip probabilities are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i.i.d.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Hamming Distance(HD): the lowest number of faulty bits that can generate an undetectable fault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Brute-force every possible error pattern on a packet and verify? NO.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Pre-compute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the impact of each single-bit flip on the EDC result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They are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linearly additive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Verify that the sum of the error combinations is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non-zero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Dynamic Programming</a:t>
            </a:r>
          </a:p>
        </p:txBody>
      </p:sp>
      <p:pic>
        <p:nvPicPr>
          <p:cNvPr id="4" name="Picture 4" descr="Types of Errors_Single Bit Errors">
            <a:extLst>
              <a:ext uri="{FF2B5EF4-FFF2-40B4-BE49-F238E27FC236}">
                <a16:creationId xmlns:a16="http://schemas.microsoft.com/office/drawing/2014/main" id="{9A7B9EAD-50A8-D73C-7211-048E7F00F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66" y="681037"/>
            <a:ext cx="4651750" cy="99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201FFDA3-6A20-487F-2A82-A7636D324D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5106682"/>
              </p:ext>
            </p:extLst>
          </p:nvPr>
        </p:nvGraphicFramePr>
        <p:xfrm>
          <a:off x="6527691" y="4541387"/>
          <a:ext cx="5251508" cy="2151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9086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1A9E5-49FF-9AED-93D7-765924D1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Throughput (basic version)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06274CB9-E2CB-9247-D09D-78CC19F1F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195164"/>
              </p:ext>
            </p:extLst>
          </p:nvPr>
        </p:nvGraphicFramePr>
        <p:xfrm>
          <a:off x="2123813" y="3539951"/>
          <a:ext cx="7944374" cy="2952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BA0BFBD-F74C-C220-5F15-3B555E6AF3A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Internet checksum ~8GB/s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SIMD version ~23GB/s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Koopman’s checksum (division version) ~1GB/s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CRC (bitwise version) ~0.08GB/s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38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07F5D-C248-8D22-FC4C-18DDA7E1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Architectural Optimization: CRC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90FDC-B330-8EEA-DAFA-22DECC87C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Lookup-Table: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pre-compute all 8-bit permutations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~0.35GB/s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ILP: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LUT eliminates computational dependencies, allowing for multiple instruction issue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2~3GB/s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Carry-less multiplication 4~5GB/s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15C643CD-4C72-B7A2-4399-9751C73A4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1310838"/>
              </p:ext>
            </p:extLst>
          </p:nvPr>
        </p:nvGraphicFramePr>
        <p:xfrm>
          <a:off x="2130803" y="3842158"/>
          <a:ext cx="8649049" cy="2827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74830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AC01-34B6-02A2-8D28-2B98D4F4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75A00-86DB-B52A-948B-74FAE2A4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Extending the design of Koopman's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C65FAA-658D-732E-57A7-0C5534028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Koopman’s checksum/CRC use 32-bit lengths by default (the longer the EDC, the stronger the error detection capability).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we use a 32-bit modulus, we won't be able to optimize performance.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My idea 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Can we use a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shorter modulus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—sacrificing a few bits of error detection capability—so that we can perform standard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multiplication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Moreover, multiplication is perfectly suited for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vectorization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93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A5F5D61-4D3B-1AA4-DC32-9A2A39CE6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236" y="3453608"/>
            <a:ext cx="3646763" cy="325275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8AE7CB4-01B1-8859-4464-B5FCFED5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Code Showcase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DC86AB-C4EC-2C23-6B07-6DD1405A2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6B287E-06A4-8A07-3B3E-795615E47E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42" t="4969" r="3342"/>
          <a:stretch>
            <a:fillRect/>
          </a:stretch>
        </p:blipFill>
        <p:spPr>
          <a:xfrm>
            <a:off x="5234730" y="870963"/>
            <a:ext cx="6727973" cy="56978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A7F15B-A3D0-D42C-E155-4F097E7445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31" t="12423" r="47464" b="5662"/>
          <a:stretch>
            <a:fillRect/>
          </a:stretch>
        </p:blipFill>
        <p:spPr>
          <a:xfrm>
            <a:off x="229297" y="1357114"/>
            <a:ext cx="4588778" cy="256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5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8D54D-23F5-6F73-02B9-D4E88CAB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Architectural Optimization: Koopman’s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37426E3C-69DF-6E15-9047-0B350EFFB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460043"/>
              </p:ext>
            </p:extLst>
          </p:nvPr>
        </p:nvGraphicFramePr>
        <p:xfrm>
          <a:off x="990600" y="3429000"/>
          <a:ext cx="10663106" cy="303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48C0612-B38C-E8E8-3D0B-83F813C7032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Koopman’s checksum (division version) ~1GB/s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LUT version &amp; Iterative LUT version: ~5GB/s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Vectorized LUT version: 4~8GB/s</a:t>
            </a:r>
          </a:p>
        </p:txBody>
      </p:sp>
    </p:spTree>
    <p:extLst>
      <p:ext uri="{BB962C8B-B14F-4D97-AF65-F5344CB8AC3E}">
        <p14:creationId xmlns:p14="http://schemas.microsoft.com/office/powerpoint/2010/main" val="4216697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0A889-EAEB-0555-1403-33A89EA0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E45F7-01E1-4471-8113-C22FC5AE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146DA-9540-B7BF-9E40-B2D2F73B1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 reality, the choice of EDCs depends on the specific scenario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Error tolerance &amp; types &amp; rates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Network CRC is essentially offloaded to hardware...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C40BCED-CA3D-C8BD-B859-4C8FA60FCB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644414"/>
                  </p:ext>
                </p:extLst>
              </p:nvPr>
            </p:nvGraphicFramePr>
            <p:xfrm>
              <a:off x="1442904" y="1803379"/>
              <a:ext cx="8567370" cy="219791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13474">
                      <a:extLst>
                        <a:ext uri="{9D8B030D-6E8A-4147-A177-3AD203B41FA5}">
                          <a16:colId xmlns:a16="http://schemas.microsoft.com/office/drawing/2014/main" val="3507116982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2778744685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3665264205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2661101255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3213347921"/>
                        </a:ext>
                      </a:extLst>
                    </a:gridCol>
                  </a:tblGrid>
                  <a:tr h="73213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Internet checksum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CRC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Koopman’s checksum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Koopman’s checksum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1431077"/>
                      </a:ext>
                    </a:extLst>
                  </a:tr>
                  <a:tr h="48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Burst Error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7646048"/>
                      </a:ext>
                    </a:extLst>
                  </a:tr>
                  <a:tr h="48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Random Error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★✩✩✩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★★★★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★★✩✩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9538029"/>
                      </a:ext>
                    </a:extLst>
                  </a:tr>
                  <a:tr h="48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★★★★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★✩✩✩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★★✩✩</a:t>
                          </a:r>
                          <a:endParaRPr lang="en-US" altLang="zh-C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★★★✩</a:t>
                          </a:r>
                          <a:endParaRPr lang="en-US" altLang="zh-C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61208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C40BCED-CA3D-C8BD-B859-4C8FA60FCB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644414"/>
                  </p:ext>
                </p:extLst>
              </p:nvPr>
            </p:nvGraphicFramePr>
            <p:xfrm>
              <a:off x="1442904" y="1803379"/>
              <a:ext cx="8567370" cy="219791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13474">
                      <a:extLst>
                        <a:ext uri="{9D8B030D-6E8A-4147-A177-3AD203B41FA5}">
                          <a16:colId xmlns:a16="http://schemas.microsoft.com/office/drawing/2014/main" val="3507116982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2778744685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3665264205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2661101255"/>
                        </a:ext>
                      </a:extLst>
                    </a:gridCol>
                    <a:gridCol w="1713474">
                      <a:extLst>
                        <a:ext uri="{9D8B030D-6E8A-4147-A177-3AD203B41FA5}">
                          <a16:colId xmlns:a16="http://schemas.microsoft.com/office/drawing/2014/main" val="3213347921"/>
                        </a:ext>
                      </a:extLst>
                    </a:gridCol>
                  </a:tblGrid>
                  <a:tr h="73213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Internet checksum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CRC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Koopman’s checksum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Koopman’s checksum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1431077"/>
                      </a:ext>
                    </a:extLst>
                  </a:tr>
                  <a:tr h="48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Burst Error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157500" r="-300000" b="-2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12" t="-157500" r="-201068" b="-2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45" t="-157500" r="-100355" b="-2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1068" t="-157500" r="-712" b="-20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7646048"/>
                      </a:ext>
                    </a:extLst>
                  </a:tr>
                  <a:tr h="48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Random Error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★✩✩✩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★★★★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★★✩✩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9538029"/>
                      </a:ext>
                    </a:extLst>
                  </a:tr>
                  <a:tr h="48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★★★★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★✩✩✩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★★✩✩</a:t>
                          </a:r>
                          <a:endParaRPr lang="en-US" altLang="zh-C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chemeClr val="tx1"/>
                              </a:solidFill>
                            </a:rPr>
                            <a:t>★★★✩</a:t>
                          </a:r>
                          <a:endParaRPr lang="en-US" altLang="zh-C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61208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1575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586D-CE0B-020D-4C63-895731FE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EC3F0-5FFC-F9EB-BDCB-0226505A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5D8BB-3E22-B901-9A77-A7EB154F0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latest instruction sets support vectorized carry-less multiplication (VPCLMULQDQ)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Achieve higher CRC performance on CPU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Koopman’s checksum on larger bit-widths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Determine whether using more bits yields better error detection capabilities compared to CRCs with fewer bits.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Thanks for listening!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93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1102</Words>
  <Application>Microsoft Office PowerPoint</Application>
  <PresentationFormat>宽屏</PresentationFormat>
  <Paragraphs>171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Times New Roman</vt:lpstr>
      <vt:lpstr>Office 主题​​</vt:lpstr>
      <vt:lpstr>Analysis of  Error Detection Codes</vt:lpstr>
      <vt:lpstr>Data Integrity</vt:lpstr>
      <vt:lpstr>2 Key Algorithms</vt:lpstr>
      <vt:lpstr>Motivation</vt:lpstr>
      <vt:lpstr>Metrics</vt:lpstr>
      <vt:lpstr>Burst Error</vt:lpstr>
      <vt:lpstr>Random Error</vt:lpstr>
      <vt:lpstr>Throughput (basic version)</vt:lpstr>
      <vt:lpstr>Architectural Optimization: CRC</vt:lpstr>
      <vt:lpstr>Extending the design of Koopman's</vt:lpstr>
      <vt:lpstr>Code Showcase</vt:lpstr>
      <vt:lpstr>Architectural Optimization: Koopman’s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 朱</dc:creator>
  <cp:lastModifiedBy>越 朱</cp:lastModifiedBy>
  <cp:revision>41</cp:revision>
  <dcterms:created xsi:type="dcterms:W3CDTF">2025-12-05T00:08:30Z</dcterms:created>
  <dcterms:modified xsi:type="dcterms:W3CDTF">2025-12-05T20:42:17Z</dcterms:modified>
</cp:coreProperties>
</file>